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</p:sldIdLst>
  <p:sldSz cx="14630400" cy="8229600"/>
  <p:notesSz cx="8229600" cy="14630400"/>
  <p:embeddedFontLst>
    <p:embeddedFont>
      <p:font typeface="Alice" panose="020B0604020202020204" charset="0"/>
      <p:regular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Lora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jYdUhoiCRLxsMTg5FwVt2xpxjN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6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565525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660900" y="0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-273050" y="1828800"/>
            <a:ext cx="8775700" cy="4937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3896975"/>
            <a:ext cx="3565525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/>
          <p:cNvSpPr txBox="1">
            <a:spLocks noGrp="1"/>
          </p:cNvSpPr>
          <p:nvPr>
            <p:ph type="sldNum" idx="12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" name="Google Shape;48;p2:notes"/>
          <p:cNvSpPr txBox="1"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:notes"/>
          <p:cNvSpPr txBox="1">
            <a:spLocks noGrp="1"/>
          </p:cNvSpPr>
          <p:nvPr>
            <p:ph type="sldNum" idx="12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:notes"/>
          <p:cNvSpPr txBox="1">
            <a:spLocks noGrp="1"/>
          </p:cNvSpPr>
          <p:nvPr>
            <p:ph type="sldNum" idx="12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:notes"/>
          <p:cNvSpPr txBox="1">
            <a:spLocks noGrp="1"/>
          </p:cNvSpPr>
          <p:nvPr>
            <p:ph type="sldNum" idx="12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2175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:notes"/>
          <p:cNvSpPr txBox="1">
            <a:spLocks noGrp="1"/>
          </p:cNvSpPr>
          <p:nvPr>
            <p:ph type="sldNum" idx="12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6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7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8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9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" name="Google Shape;30;p11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" name="Google Shape;34;p1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" name="Google Shape;38;p13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/>
          <p:nvPr/>
        </p:nvSpPr>
        <p:spPr>
          <a:xfrm>
            <a:off x="793800" y="2872975"/>
            <a:ext cx="10246200" cy="13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lang="en-US" sz="4450" b="0" i="0" u="none" strike="noStrike" cap="non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Solution for Banks Social Media Accounts Analysis</a:t>
            </a:r>
            <a:endParaRPr sz="4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793800" y="4630700"/>
            <a:ext cx="7935000" cy="13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lang="en-US" sz="1750" b="0" i="0" u="none" strike="noStrike" cap="non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Project Team: Rudraneel Mondal, Saurabh Das, Gopi Swayamprabha, Anmolpreet Kaur, Vinay Khobragade</a:t>
            </a:r>
            <a:endParaRPr sz="1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/>
          <p:cNvSpPr/>
          <p:nvPr/>
        </p:nvSpPr>
        <p:spPr>
          <a:xfrm>
            <a:off x="766882" y="817602"/>
            <a:ext cx="5478000" cy="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418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300"/>
              <a:buFont typeface="Alice"/>
              <a:buNone/>
            </a:pPr>
            <a:r>
              <a:rPr lang="en-US" sz="4300" b="0" i="0" u="none" strike="noStrike" cap="non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Project Objectives</a:t>
            </a:r>
            <a:endParaRPr sz="4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766882" y="1925598"/>
            <a:ext cx="6442500" cy="2465100"/>
          </a:xfrm>
          <a:prstGeom prst="roundRect">
            <a:avLst>
              <a:gd name="adj" fmla="val 1333"/>
            </a:avLst>
          </a:prstGeom>
          <a:solidFill>
            <a:srgbClr val="F0ED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985957" y="2144673"/>
            <a:ext cx="657300" cy="657300"/>
          </a:xfrm>
          <a:prstGeom prst="roundRect">
            <a:avLst>
              <a:gd name="adj" fmla="val 13909134"/>
            </a:avLst>
          </a:prstGeom>
          <a:solidFill>
            <a:srgbClr val="1B5F3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985957" y="3013591"/>
            <a:ext cx="27390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150"/>
              <a:buFont typeface="Alice"/>
              <a:buNone/>
            </a:pPr>
            <a:r>
              <a:rPr lang="en-US" sz="2150" b="0" i="0" u="none" strike="noStrike" cap="non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Data Extraction</a:t>
            </a:r>
            <a:endParaRPr sz="2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985957" y="3482816"/>
            <a:ext cx="60042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00"/>
              <a:buFont typeface="Lora"/>
              <a:buNone/>
            </a:pPr>
            <a:r>
              <a:rPr lang="en-US" sz="1700" b="0" i="0" u="none" strike="noStrike" cap="non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Systematically collect tweets, posts, and comments from relevant social media platforms using API integration.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7420928" y="1925598"/>
            <a:ext cx="6442500" cy="2465100"/>
          </a:xfrm>
          <a:prstGeom prst="roundRect">
            <a:avLst>
              <a:gd name="adj" fmla="val 1333"/>
            </a:avLst>
          </a:prstGeom>
          <a:solidFill>
            <a:srgbClr val="F0ED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7640003" y="2144673"/>
            <a:ext cx="657300" cy="657300"/>
          </a:xfrm>
          <a:prstGeom prst="roundRect">
            <a:avLst>
              <a:gd name="adj" fmla="val 13909134"/>
            </a:avLst>
          </a:prstGeom>
          <a:solidFill>
            <a:srgbClr val="1B5F3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7640003" y="3013591"/>
            <a:ext cx="27390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150"/>
              <a:buFont typeface="Alice"/>
              <a:buNone/>
            </a:pPr>
            <a:r>
              <a:rPr lang="en-US" sz="2150" b="0" i="0" u="none" strike="noStrike" cap="non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Compliance Detection</a:t>
            </a:r>
            <a:endParaRPr sz="2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7640003" y="3482816"/>
            <a:ext cx="60045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00"/>
              <a:buFont typeface="Lora"/>
              <a:buNone/>
            </a:pPr>
            <a:r>
              <a:rPr lang="en-US" sz="1700" b="0" i="0" u="none" strike="noStrike" cap="non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Identify potential compliance violations and policy breaches within user content for regulatory oversight.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766882" y="4602361"/>
            <a:ext cx="6442500" cy="2809500"/>
          </a:xfrm>
          <a:prstGeom prst="roundRect">
            <a:avLst>
              <a:gd name="adj" fmla="val 1170"/>
            </a:avLst>
          </a:prstGeom>
          <a:solidFill>
            <a:srgbClr val="F0ED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985957" y="4821436"/>
            <a:ext cx="657300" cy="657300"/>
          </a:xfrm>
          <a:prstGeom prst="roundRect">
            <a:avLst>
              <a:gd name="adj" fmla="val 13909134"/>
            </a:avLst>
          </a:prstGeom>
          <a:solidFill>
            <a:srgbClr val="1B5F3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985957" y="5690354"/>
            <a:ext cx="27390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150"/>
              <a:buFont typeface="Alice"/>
              <a:buNone/>
            </a:pPr>
            <a:r>
              <a:rPr lang="en-US" sz="2150" b="0" i="0" u="none" strike="noStrike" cap="non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Customer Insights</a:t>
            </a:r>
            <a:endParaRPr sz="2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985957" y="6159579"/>
            <a:ext cx="60042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00"/>
              <a:buFont typeface="Lora"/>
              <a:buNone/>
            </a:pPr>
            <a:r>
              <a:rPr lang="en-US" sz="1700" b="0" i="0" u="none" strike="noStrike" cap="non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Extract meaningful customer feedback to inform service improvements and product development strategies.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7420928" y="4602361"/>
            <a:ext cx="6442500" cy="2809500"/>
          </a:xfrm>
          <a:prstGeom prst="roundRect">
            <a:avLst>
              <a:gd name="adj" fmla="val 1170"/>
            </a:avLst>
          </a:prstGeom>
          <a:solidFill>
            <a:srgbClr val="F0ED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7640003" y="4821436"/>
            <a:ext cx="657300" cy="657300"/>
          </a:xfrm>
          <a:prstGeom prst="roundRect">
            <a:avLst>
              <a:gd name="adj" fmla="val 13909134"/>
            </a:avLst>
          </a:prstGeom>
          <a:solidFill>
            <a:srgbClr val="1B5F3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7640003" y="5690354"/>
            <a:ext cx="29925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150"/>
              <a:buFont typeface="Alice"/>
              <a:buNone/>
            </a:pPr>
            <a:r>
              <a:rPr lang="en-US" sz="2150" b="0" i="0" u="none" strike="noStrike" cap="non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Sentiment Classification</a:t>
            </a:r>
            <a:endParaRPr sz="2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7640003" y="6159579"/>
            <a:ext cx="6004500" cy="10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00"/>
              <a:buFont typeface="Lora"/>
              <a:buNone/>
            </a:pPr>
            <a:r>
              <a:rPr lang="en-US" sz="1700" b="0" i="0" u="none" strike="noStrike" cap="non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Accurately categorise content as positive, negative, or neutral to measure brand perception and customer satisfaction.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/>
          <p:nvPr/>
        </p:nvSpPr>
        <p:spPr>
          <a:xfrm>
            <a:off x="1918216" y="477441"/>
            <a:ext cx="39108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59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050"/>
              <a:buFont typeface="Alice"/>
              <a:buNone/>
            </a:pPr>
            <a:r>
              <a:rPr lang="en-US" sz="3050" b="0" i="0" u="none" strike="noStrike" cap="none" dirty="0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Process Workflow</a:t>
            </a:r>
            <a:endParaRPr sz="3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8216" y="1182053"/>
            <a:ext cx="782122" cy="93857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3"/>
          <p:cNvSpPr/>
          <p:nvPr/>
        </p:nvSpPr>
        <p:spPr>
          <a:xfrm>
            <a:off x="2808208" y="1338382"/>
            <a:ext cx="195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  <a:buFont typeface="Alice"/>
              <a:buNone/>
            </a:pPr>
            <a:r>
              <a:rPr lang="en-US" sz="1500" b="0" i="0" u="none" strike="noStrike" cap="none" dirty="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Data Collection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2808208" y="1647349"/>
            <a:ext cx="99039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200"/>
              <a:buFont typeface="Lora"/>
              <a:buNone/>
            </a:pPr>
            <a:r>
              <a:rPr lang="en-US" sz="1200" b="0" i="0" u="none" strike="noStrike" cap="non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Gather social media content through platform APIs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" name="Google Shape;77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18216" y="2120622"/>
            <a:ext cx="782122" cy="93857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/>
          <p:nvPr/>
        </p:nvSpPr>
        <p:spPr>
          <a:xfrm>
            <a:off x="2808208" y="2276951"/>
            <a:ext cx="195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  <a:buFont typeface="Alice"/>
              <a:buNone/>
            </a:pPr>
            <a:r>
              <a:rPr lang="en-US" sz="1500" b="0" i="0" u="none" strike="noStrike" cap="non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Data Preprocessing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2808208" y="2585918"/>
            <a:ext cx="99039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200"/>
              <a:buFont typeface="Lora"/>
              <a:buNone/>
            </a:pPr>
            <a:r>
              <a:rPr lang="en-US" sz="1200" b="0" i="0" u="none" strike="noStrike" cap="non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Clean, normalise, and prepare text data for analysis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18216" y="3059192"/>
            <a:ext cx="782122" cy="93857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/>
          <p:nvPr/>
        </p:nvSpPr>
        <p:spPr>
          <a:xfrm>
            <a:off x="2808208" y="3215521"/>
            <a:ext cx="195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  <a:buFont typeface="Alice"/>
              <a:buNone/>
            </a:pPr>
            <a:r>
              <a:rPr lang="en-US" sz="1500" b="0" i="0" u="none" strike="noStrike" cap="non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Feature Extraction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2808208" y="3524488"/>
            <a:ext cx="99039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200"/>
              <a:buFont typeface="Lora"/>
              <a:buNone/>
            </a:pPr>
            <a:r>
              <a:rPr lang="en-US" sz="1200" b="0" i="0" u="none" strike="noStrike" cap="non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Identify key linguistic features and patterns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18216" y="3997762"/>
            <a:ext cx="782122" cy="93857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/>
          <p:nvPr/>
        </p:nvSpPr>
        <p:spPr>
          <a:xfrm>
            <a:off x="2808208" y="4154091"/>
            <a:ext cx="195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  <a:buFont typeface="Alice"/>
              <a:buNone/>
            </a:pPr>
            <a:r>
              <a:rPr lang="en-US" sz="1500" b="0" i="0" u="none" strike="noStrike" cap="non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Model Training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2808208" y="4463058"/>
            <a:ext cx="99039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200"/>
              <a:buFont typeface="Lora"/>
              <a:buNone/>
            </a:pPr>
            <a:r>
              <a:rPr lang="en-US" sz="1200" b="0" i="0" u="none" strike="noStrike" cap="non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Train machine learning models on labelled datasets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18216" y="4936331"/>
            <a:ext cx="782122" cy="93857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/>
          <p:nvPr/>
        </p:nvSpPr>
        <p:spPr>
          <a:xfrm>
            <a:off x="2808202" y="5092650"/>
            <a:ext cx="43395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  <a:buFont typeface="Alice"/>
              <a:buNone/>
            </a:pPr>
            <a:r>
              <a:rPr lang="en-US" sz="1500" b="0" i="0" u="none" strike="noStrike" cap="non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Text Classification and Sentiment Analysis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2808208" y="5401628"/>
            <a:ext cx="99039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200"/>
              <a:buFont typeface="Lora"/>
              <a:buNone/>
            </a:pPr>
            <a:r>
              <a:rPr lang="en-US" sz="1200" b="0" i="0" u="none" strike="noStrike" cap="non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 Categorise content into compliance issues, feedback, or general content. Determine positive or negative sentiment scores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18216" y="5874901"/>
            <a:ext cx="782122" cy="93857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/>
          <p:nvPr/>
        </p:nvSpPr>
        <p:spPr>
          <a:xfrm>
            <a:off x="2808208" y="6031230"/>
            <a:ext cx="195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  <a:buFont typeface="Alice"/>
              <a:buNone/>
            </a:pPr>
            <a:r>
              <a:rPr lang="en-US" sz="1500" b="0" i="0" u="none" strike="noStrike" cap="non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Database Storage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2808208" y="6340197"/>
            <a:ext cx="99039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200"/>
              <a:buFont typeface="Lora"/>
              <a:buNone/>
            </a:pPr>
            <a:r>
              <a:rPr lang="en-US" sz="1200" b="0" i="0" u="none" strike="noStrike" cap="non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Stpring the data in DB for furture uses.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3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918216" y="6813471"/>
            <a:ext cx="782122" cy="93857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/>
          <p:nvPr/>
        </p:nvSpPr>
        <p:spPr>
          <a:xfrm>
            <a:off x="2808208" y="6969800"/>
            <a:ext cx="195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  <a:buFont typeface="Alice"/>
              <a:buNone/>
            </a:pPr>
            <a:r>
              <a:rPr lang="en-US" sz="1500" b="0" i="0" u="none" strike="noStrike" cap="non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Reporting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2808208" y="7278767"/>
            <a:ext cx="99039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200"/>
              <a:buFont typeface="Lora"/>
              <a:buNone/>
            </a:pPr>
            <a:r>
              <a:rPr lang="en-US" sz="1200" b="0" i="0" u="none" strike="noStrike" cap="non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Distribute insights to compliance, support, and marketing teams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3;p3"/>
          <p:cNvSpPr/>
          <p:nvPr/>
        </p:nvSpPr>
        <p:spPr>
          <a:xfrm>
            <a:off x="1918216" y="477441"/>
            <a:ext cx="39108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59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050"/>
              <a:buFont typeface="Alice"/>
              <a:buNone/>
            </a:pPr>
            <a:r>
              <a:rPr lang="en-US" sz="3050" dirty="0" smtClean="0">
                <a:solidFill>
                  <a:srgbClr val="233E32"/>
                </a:solidFill>
                <a:latin typeface="Alice"/>
                <a:ea typeface="Alice"/>
                <a:cs typeface="Calibri"/>
                <a:sym typeface="Alice"/>
              </a:rPr>
              <a:t>Technology Stack</a:t>
            </a:r>
            <a:endParaRPr sz="3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75;p3"/>
          <p:cNvSpPr/>
          <p:nvPr/>
        </p:nvSpPr>
        <p:spPr>
          <a:xfrm>
            <a:off x="2928708" y="1365456"/>
            <a:ext cx="5293802" cy="494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</a:pPr>
            <a:r>
              <a:rPr lang="en-US" sz="2000" dirty="0" smtClean="0">
                <a:solidFill>
                  <a:srgbClr val="2C2821"/>
                </a:solidFill>
                <a:latin typeface="Alice"/>
                <a:ea typeface="Alice"/>
                <a:cs typeface="Calibri"/>
                <a:sym typeface="Alice"/>
              </a:rPr>
              <a:t>Social Media APIs</a:t>
            </a:r>
          </a:p>
        </p:txBody>
      </p:sp>
      <p:pic>
        <p:nvPicPr>
          <p:cNvPr id="7" name="Google Shape;74;p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18216" y="1182053"/>
            <a:ext cx="782122" cy="938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77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8216" y="2120622"/>
            <a:ext cx="782122" cy="938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80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18216" y="3059192"/>
            <a:ext cx="782122" cy="938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83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18216" y="3997762"/>
            <a:ext cx="782122" cy="938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86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18216" y="4936331"/>
            <a:ext cx="782122" cy="938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89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18216" y="5874901"/>
            <a:ext cx="782122" cy="93857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75;p3"/>
          <p:cNvSpPr/>
          <p:nvPr/>
        </p:nvSpPr>
        <p:spPr>
          <a:xfrm>
            <a:off x="2928708" y="2342707"/>
            <a:ext cx="5293802" cy="494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</a:pPr>
            <a:r>
              <a:rPr lang="en-US" sz="2000" dirty="0" smtClean="0">
                <a:solidFill>
                  <a:srgbClr val="2C2821"/>
                </a:solidFill>
                <a:latin typeface="Alice"/>
                <a:ea typeface="Alice"/>
                <a:cs typeface="Calibri"/>
                <a:sym typeface="Alice"/>
              </a:rPr>
              <a:t>Database (Postgresql, Mysql, Oracle)</a:t>
            </a:r>
          </a:p>
        </p:txBody>
      </p:sp>
      <p:sp>
        <p:nvSpPr>
          <p:cNvPr id="20" name="Google Shape;75;p3"/>
          <p:cNvSpPr/>
          <p:nvPr/>
        </p:nvSpPr>
        <p:spPr>
          <a:xfrm>
            <a:off x="2928708" y="3281277"/>
            <a:ext cx="5293802" cy="494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</a:pPr>
            <a:r>
              <a:rPr lang="en-US" sz="2000" dirty="0" smtClean="0">
                <a:solidFill>
                  <a:srgbClr val="2C2821"/>
                </a:solidFill>
                <a:latin typeface="Alice"/>
                <a:ea typeface="Alice"/>
                <a:cs typeface="Calibri"/>
                <a:sym typeface="Alice"/>
              </a:rPr>
              <a:t>Docker</a:t>
            </a:r>
          </a:p>
        </p:txBody>
      </p:sp>
      <p:sp>
        <p:nvSpPr>
          <p:cNvPr id="21" name="Google Shape;75;p3"/>
          <p:cNvSpPr/>
          <p:nvPr/>
        </p:nvSpPr>
        <p:spPr>
          <a:xfrm>
            <a:off x="2928708" y="4219847"/>
            <a:ext cx="5293802" cy="494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</a:pPr>
            <a:r>
              <a:rPr lang="en-US" sz="2000" dirty="0" smtClean="0">
                <a:solidFill>
                  <a:srgbClr val="2C2821"/>
                </a:solidFill>
                <a:latin typeface="Alice"/>
                <a:ea typeface="Alice"/>
                <a:cs typeface="Calibri"/>
                <a:sym typeface="Alice"/>
              </a:rPr>
              <a:t>Ollama – Hosting AI Model Locally</a:t>
            </a:r>
          </a:p>
        </p:txBody>
      </p:sp>
      <p:sp>
        <p:nvSpPr>
          <p:cNvPr id="22" name="Google Shape;75;p3"/>
          <p:cNvSpPr/>
          <p:nvPr/>
        </p:nvSpPr>
        <p:spPr>
          <a:xfrm>
            <a:off x="2928708" y="5137778"/>
            <a:ext cx="5293802" cy="494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</a:pPr>
            <a:r>
              <a:rPr lang="en-US" sz="2000" dirty="0" smtClean="0">
                <a:solidFill>
                  <a:srgbClr val="2C2821"/>
                </a:solidFill>
                <a:latin typeface="Alice"/>
                <a:ea typeface="Alice"/>
                <a:cs typeface="Calibri"/>
                <a:sym typeface="Alice"/>
              </a:rPr>
              <a:t>N8N</a:t>
            </a:r>
          </a:p>
        </p:txBody>
      </p:sp>
      <p:sp>
        <p:nvSpPr>
          <p:cNvPr id="23" name="Google Shape;75;p3"/>
          <p:cNvSpPr/>
          <p:nvPr/>
        </p:nvSpPr>
        <p:spPr>
          <a:xfrm>
            <a:off x="2928708" y="6096986"/>
            <a:ext cx="5293802" cy="494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</a:pPr>
            <a:r>
              <a:rPr lang="en-US" sz="2000" dirty="0" smtClean="0">
                <a:solidFill>
                  <a:srgbClr val="2C2821"/>
                </a:solidFill>
                <a:latin typeface="Alice"/>
                <a:ea typeface="Alice"/>
                <a:cs typeface="Calibri"/>
                <a:sym typeface="Alice"/>
              </a:rPr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3053056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3;p3"/>
          <p:cNvSpPr/>
          <p:nvPr/>
        </p:nvSpPr>
        <p:spPr>
          <a:xfrm>
            <a:off x="1918216" y="913375"/>
            <a:ext cx="39108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59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050"/>
              <a:buFont typeface="Alice"/>
              <a:buNone/>
            </a:pPr>
            <a:r>
              <a:rPr lang="en-US" sz="3050" dirty="0" smtClean="0">
                <a:solidFill>
                  <a:srgbClr val="233E32"/>
                </a:solidFill>
                <a:latin typeface="Alice"/>
                <a:ea typeface="Alice"/>
                <a:cs typeface="Calibri"/>
                <a:sym typeface="Alice"/>
              </a:rPr>
              <a:t>Core Features</a:t>
            </a:r>
            <a:endParaRPr sz="3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77;p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18216" y="3268938"/>
            <a:ext cx="782122" cy="938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0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8216" y="4207508"/>
            <a:ext cx="782122" cy="93857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75;p3"/>
          <p:cNvSpPr/>
          <p:nvPr/>
        </p:nvSpPr>
        <p:spPr>
          <a:xfrm>
            <a:off x="2928708" y="2513772"/>
            <a:ext cx="5293802" cy="494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</a:pPr>
            <a:r>
              <a:rPr lang="en-US" sz="2000" dirty="0" smtClean="0">
                <a:solidFill>
                  <a:srgbClr val="2C2821"/>
                </a:solidFill>
                <a:latin typeface="Alice"/>
                <a:ea typeface="Alice"/>
                <a:cs typeface="Calibri"/>
                <a:sym typeface="Alice"/>
              </a:rPr>
              <a:t>Sentiment </a:t>
            </a:r>
            <a:r>
              <a:rPr lang="en-US" sz="2000" dirty="0" smtClean="0">
                <a:solidFill>
                  <a:srgbClr val="2C2821"/>
                </a:solidFill>
                <a:latin typeface="Alice"/>
                <a:ea typeface="Alice"/>
                <a:cs typeface="Calibri"/>
                <a:sym typeface="Alice"/>
              </a:rPr>
              <a:t>Analysis of Social Media Data</a:t>
            </a:r>
            <a:endParaRPr lang="en-US" sz="2000" dirty="0" smtClean="0">
              <a:solidFill>
                <a:srgbClr val="2C2821"/>
              </a:solidFill>
              <a:latin typeface="Alice"/>
              <a:ea typeface="Alice"/>
              <a:cs typeface="Calibri"/>
              <a:sym typeface="Alice"/>
            </a:endParaRPr>
          </a:p>
        </p:txBody>
      </p:sp>
      <p:sp>
        <p:nvSpPr>
          <p:cNvPr id="10" name="Google Shape;75;p3"/>
          <p:cNvSpPr/>
          <p:nvPr/>
        </p:nvSpPr>
        <p:spPr>
          <a:xfrm>
            <a:off x="2928708" y="3491023"/>
            <a:ext cx="5293802" cy="494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</a:pPr>
            <a:r>
              <a:rPr lang="en-US" sz="2000" dirty="0" smtClean="0">
                <a:solidFill>
                  <a:srgbClr val="2C2821"/>
                </a:solidFill>
                <a:latin typeface="Alice"/>
                <a:ea typeface="Alice"/>
                <a:cs typeface="Calibri"/>
                <a:sym typeface="Alice"/>
              </a:rPr>
              <a:t>Reporting Generation and Dashboard</a:t>
            </a:r>
          </a:p>
        </p:txBody>
      </p:sp>
      <p:sp>
        <p:nvSpPr>
          <p:cNvPr id="11" name="Google Shape;75;p3"/>
          <p:cNvSpPr/>
          <p:nvPr/>
        </p:nvSpPr>
        <p:spPr>
          <a:xfrm>
            <a:off x="2928708" y="4207508"/>
            <a:ext cx="7065898" cy="765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</a:pPr>
            <a:r>
              <a:rPr lang="en-US" sz="2000" dirty="0" smtClean="0">
                <a:solidFill>
                  <a:srgbClr val="2C2821"/>
                </a:solidFill>
                <a:latin typeface="Alice"/>
                <a:ea typeface="Alice"/>
                <a:cs typeface="Calibri"/>
                <a:sym typeface="Alice"/>
              </a:rPr>
              <a:t>Model Training and locally hosting AI Model for Data Privacy, Cost Optimization</a:t>
            </a:r>
          </a:p>
        </p:txBody>
      </p:sp>
      <p:pic>
        <p:nvPicPr>
          <p:cNvPr id="12" name="Google Shape;74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18216" y="2330368"/>
            <a:ext cx="782122" cy="9385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7748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/>
          <p:nvPr/>
        </p:nvSpPr>
        <p:spPr>
          <a:xfrm>
            <a:off x="6280190" y="3274100"/>
            <a:ext cx="7556400" cy="9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6150"/>
              <a:buFont typeface="Alice"/>
              <a:buNone/>
            </a:pPr>
            <a:r>
              <a:rPr lang="en-US" sz="6150" b="0" i="0" u="none" strike="noStrike" cap="none" dirty="0" smtClean="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Demo</a:t>
            </a:r>
            <a:endParaRPr sz="6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9886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/>
          <p:nvPr/>
        </p:nvSpPr>
        <p:spPr>
          <a:xfrm>
            <a:off x="6280190" y="3274100"/>
            <a:ext cx="7556400" cy="9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6150"/>
              <a:buFont typeface="Alice"/>
              <a:buNone/>
            </a:pPr>
            <a:r>
              <a:rPr lang="en-US" sz="6150" b="0" i="0" u="none" strike="noStrike" cap="none" dirty="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Thank You</a:t>
            </a:r>
            <a:endParaRPr sz="6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237</Words>
  <Application>Microsoft Office PowerPoint</Application>
  <PresentationFormat>Custom</PresentationFormat>
  <Paragraphs>44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Alice</vt:lpstr>
      <vt:lpstr>Calibri</vt:lpstr>
      <vt:lpstr>Arial</vt:lpstr>
      <vt:lpstr>Lora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Rudraneel Mondal</dc:creator>
  <cp:lastModifiedBy>None</cp:lastModifiedBy>
  <cp:revision>8</cp:revision>
  <dcterms:modified xsi:type="dcterms:W3CDTF">2026-04-23T16:45:08Z</dcterms:modified>
</cp:coreProperties>
</file>